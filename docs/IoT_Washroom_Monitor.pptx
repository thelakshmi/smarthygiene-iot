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406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(₹)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02-488A-A845-E494931BFE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E02-488A-A845-E494931BFE7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E02-488A-A845-E494931BFE7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E02-488A-A845-E494931BFE7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E02-488A-A845-E494931BFE78}"/>
              </c:ext>
            </c:extLst>
          </c:dPt>
          <c:dPt>
            <c:idx val="5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E02-488A-A845-E494931BFE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Rasp. Pi</c:v>
                </c:pt>
                <c:pt idx="1">
                  <c:v>Gas Sensor</c:v>
                </c:pt>
                <c:pt idx="2">
                  <c:v>IR Sensor</c:v>
                </c:pt>
                <c:pt idx="3">
                  <c:v>Moisture</c:v>
                </c:pt>
                <c:pt idx="4">
                  <c:v>Liquid Lvl</c:v>
                </c:pt>
                <c:pt idx="5">
                  <c:v>Misc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6250</c:v>
                </c:pt>
                <c:pt idx="1">
                  <c:v>200</c:v>
                </c:pt>
                <c:pt idx="2">
                  <c:v>125</c:v>
                </c:pt>
                <c:pt idx="3">
                  <c:v>160</c:v>
                </c:pt>
                <c:pt idx="4">
                  <c:v>225</c:v>
                </c:pt>
                <c:pt idx="5">
                  <c:v>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E02-488A-A845-E494931BFE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rgbClr val="B0C4CE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B2B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rgbClr val="B0C4CE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435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6ff917d-e9dd-4012-b01d-1211de76dcc4}"/>
      </c:ext>
    </c:extLst>
  </c:chart>
  <c:spPr>
    <a:solidFill>
      <a:srgbClr val="162435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respected judges and everyone present here.</a:t>
            </a:r>
          </a:p>
          <a:p>
            <a:r>
              <a:rPr lang="en-US" dirty="0"/>
              <a:t>Imagine walking into a public washroom at a railway station or mall…</a:t>
            </a:r>
            <a:br>
              <a:rPr lang="en-US" dirty="0"/>
            </a:br>
            <a:r>
              <a:rPr lang="en-US" dirty="0"/>
              <a:t>The floor is wet, there is a bad smell, and the soap dispenser is empty.</a:t>
            </a:r>
          </a:p>
          <a:p>
            <a:r>
              <a:rPr lang="en-US" dirty="0"/>
              <a:t>Most of us have experienced this situation.</a:t>
            </a:r>
          </a:p>
          <a:p>
            <a:r>
              <a:rPr lang="en-US" dirty="0"/>
              <a:t>The real problem is not just hygiene — it is the </a:t>
            </a:r>
            <a:r>
              <a:rPr lang="en-US" b="1" dirty="0"/>
              <a:t>lack of real-time monitoring</a:t>
            </a:r>
            <a:r>
              <a:rPr lang="en-US" dirty="0"/>
              <a:t>.</a:t>
            </a:r>
          </a:p>
          <a:p>
            <a:r>
              <a:rPr lang="en-US" dirty="0"/>
              <a:t>Maintenance staff usually check washrooms </a:t>
            </a:r>
            <a:r>
              <a:rPr lang="en-US" b="1" dirty="0"/>
              <a:t>only at fixed intervals</a:t>
            </a:r>
            <a:r>
              <a:rPr lang="en-US" dirty="0"/>
              <a:t>, and between those inspections, hygiene conditions can deteriorate quickly.</a:t>
            </a:r>
          </a:p>
          <a:p>
            <a:r>
              <a:rPr lang="en-US" dirty="0"/>
              <a:t>So our team decided to address this issue through our project:</a:t>
            </a:r>
          </a:p>
          <a:p>
            <a:r>
              <a:rPr lang="en-US" b="1" dirty="0"/>
              <a:t>Smart Public Washroom Hygiene Monitor.</a:t>
            </a:r>
            <a:endParaRPr lang="en-US" dirty="0"/>
          </a:p>
          <a:p>
            <a:r>
              <a:rPr lang="en-US" dirty="0"/>
              <a:t>This is an </a:t>
            </a:r>
            <a:r>
              <a:rPr lang="en-US" b="1" dirty="0"/>
              <a:t>IoT-based system that continuously monitors washroom hygiene conditions and alerts maintenance staff when cleaning is required.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washrooms in places like </a:t>
            </a:r>
            <a:r>
              <a:rPr lang="en-US" b="1" dirty="0"/>
              <a:t>railway stations, malls, universities, and airports</a:t>
            </a:r>
            <a:r>
              <a:rPr lang="en-US" dirty="0"/>
              <a:t> face several hygiene challenges.</a:t>
            </a:r>
          </a:p>
          <a:p>
            <a:r>
              <a:rPr lang="en-US" dirty="0"/>
              <a:t>These include:</a:t>
            </a:r>
          </a:p>
          <a:p>
            <a:r>
              <a:rPr lang="en-US" dirty="0"/>
              <a:t>Bad odor due to lack of timely cleaning</a:t>
            </a:r>
          </a:p>
          <a:p>
            <a:r>
              <a:rPr lang="en-US" dirty="0"/>
              <a:t>Wet floors that can cause accidents</a:t>
            </a:r>
          </a:p>
          <a:p>
            <a:r>
              <a:rPr lang="en-US" dirty="0"/>
              <a:t>Empty soap dispensers</a:t>
            </a:r>
          </a:p>
          <a:p>
            <a:r>
              <a:rPr lang="en-US" dirty="0"/>
              <a:t>Heavy usage during peak hours</a:t>
            </a:r>
          </a:p>
          <a:p>
            <a:r>
              <a:rPr lang="en-US" dirty="0"/>
              <a:t>Currently, maintenance staff depend mostly on </a:t>
            </a:r>
            <a:r>
              <a:rPr lang="en-US" b="1" dirty="0"/>
              <a:t>manual inspection schedules</a:t>
            </a:r>
            <a:r>
              <a:rPr lang="en-US" dirty="0"/>
              <a:t>.</a:t>
            </a:r>
          </a:p>
          <a:p>
            <a:r>
              <a:rPr lang="en-US" dirty="0"/>
              <a:t>This means issues are often detected </a:t>
            </a:r>
            <a:r>
              <a:rPr lang="en-US" b="1" dirty="0"/>
              <a:t>only after users complain</a:t>
            </a:r>
            <a:r>
              <a:rPr lang="en-US" dirty="0"/>
              <a:t>, which negatively affects user experience and sanitation standards.</a:t>
            </a:r>
          </a:p>
          <a:p>
            <a:r>
              <a:rPr lang="en-US" dirty="0"/>
              <a:t>Therefore, there is a clear need for a </a:t>
            </a:r>
            <a:r>
              <a:rPr lang="en-US" b="1" dirty="0"/>
              <a:t>smart automated monitoring system</a:t>
            </a:r>
            <a:r>
              <a:rPr lang="en-US" dirty="0"/>
              <a:t> that can continuously track washroom conditions and notify staff immediately when action is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now look at how the system works.</a:t>
            </a:r>
          </a:p>
          <a:p>
            <a:r>
              <a:rPr lang="en-US" dirty="0"/>
              <a:t>The architecture follows a </a:t>
            </a:r>
            <a:r>
              <a:rPr lang="en-US" b="1" dirty="0"/>
              <a:t>simple but effective IoT workflow.</a:t>
            </a:r>
            <a:endParaRPr lang="en-US" dirty="0"/>
          </a:p>
          <a:p>
            <a:r>
              <a:rPr lang="en-US" dirty="0"/>
              <a:t>First, the </a:t>
            </a:r>
            <a:r>
              <a:rPr lang="en-US" b="1" dirty="0"/>
              <a:t>sensors collect real-time environmental data</a:t>
            </a:r>
            <a:r>
              <a:rPr lang="en-US" dirty="0"/>
              <a:t> inside the washroom.</a:t>
            </a:r>
          </a:p>
          <a:p>
            <a:r>
              <a:rPr lang="en-US" dirty="0"/>
              <a:t>These sensors send their readings to the </a:t>
            </a:r>
            <a:r>
              <a:rPr lang="en-US" b="1" dirty="0"/>
              <a:t>Raspberry Pi</a:t>
            </a:r>
            <a:r>
              <a:rPr lang="en-US" dirty="0"/>
              <a:t>, which acts as the processing unit.</a:t>
            </a:r>
          </a:p>
          <a:p>
            <a:r>
              <a:rPr lang="en-US" dirty="0"/>
              <a:t>The Raspberry Pi then publishes this data to the </a:t>
            </a:r>
            <a:r>
              <a:rPr lang="en-US" b="1" dirty="0"/>
              <a:t>MQTT cloud broker</a:t>
            </a:r>
            <a:r>
              <a:rPr lang="en-US" dirty="0"/>
              <a:t>.</a:t>
            </a:r>
          </a:p>
          <a:p>
            <a:r>
              <a:rPr lang="en-US" dirty="0"/>
              <a:t>MQTT is a lightweight messaging protocol designed specifically for </a:t>
            </a:r>
            <a:r>
              <a:rPr lang="en-US" b="1" dirty="0"/>
              <a:t>IoT communication</a:t>
            </a:r>
            <a:r>
              <a:rPr lang="en-US" dirty="0"/>
              <a:t>, making it efficient for transmitting sensor data.</a:t>
            </a:r>
          </a:p>
          <a:p>
            <a:r>
              <a:rPr lang="en-US" dirty="0"/>
              <a:t>Once the data reaches the cloud:</a:t>
            </a:r>
          </a:p>
          <a:p>
            <a:r>
              <a:rPr lang="en-US" dirty="0"/>
              <a:t>It is processed</a:t>
            </a:r>
          </a:p>
          <a:p>
            <a:r>
              <a:rPr lang="en-US" dirty="0"/>
              <a:t>Stored in a database</a:t>
            </a:r>
          </a:p>
          <a:p>
            <a:r>
              <a:rPr lang="en-US" dirty="0"/>
              <a:t>Displayed on a monitoring dashboard</a:t>
            </a:r>
          </a:p>
          <a:p>
            <a:r>
              <a:rPr lang="en-US" dirty="0"/>
              <a:t>Facility managers can view the dashboard to monitor washroom conditions in real time.</a:t>
            </a:r>
          </a:p>
          <a:p>
            <a:r>
              <a:rPr lang="en-US" dirty="0"/>
              <a:t>If any parameter crosses a predefined threshold, the system generates </a:t>
            </a:r>
            <a:r>
              <a:rPr lang="en-US" b="1" dirty="0"/>
              <a:t>alerts indicating that maintenance is required.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combines both </a:t>
            </a:r>
            <a:r>
              <a:rPr lang="en-US" b="1" dirty="0"/>
              <a:t>hardware and software technologies.</a:t>
            </a:r>
            <a:endParaRPr lang="en-US" dirty="0"/>
          </a:p>
          <a:p>
            <a:r>
              <a:rPr lang="en-US" dirty="0"/>
              <a:t>On the hardware side, we use:</a:t>
            </a:r>
          </a:p>
          <a:p>
            <a:r>
              <a:rPr lang="en-US" b="1" dirty="0"/>
              <a:t>Raspberry Pi</a:t>
            </a:r>
            <a:r>
              <a:rPr lang="en-US" dirty="0"/>
              <a:t> as the main controller</a:t>
            </a:r>
          </a:p>
          <a:p>
            <a:r>
              <a:rPr lang="en-US" b="1" dirty="0"/>
              <a:t>Ammonia gas sensor</a:t>
            </a:r>
            <a:r>
              <a:rPr lang="en-US" dirty="0"/>
              <a:t> for odor detection</a:t>
            </a:r>
          </a:p>
          <a:p>
            <a:r>
              <a:rPr lang="en-US" b="1" dirty="0"/>
              <a:t>Infrared sensor</a:t>
            </a:r>
            <a:r>
              <a:rPr lang="en-US" dirty="0"/>
              <a:t> for counting users</a:t>
            </a:r>
          </a:p>
          <a:p>
            <a:r>
              <a:rPr lang="en-US" b="1" dirty="0"/>
              <a:t>Moisture sensor</a:t>
            </a:r>
            <a:r>
              <a:rPr lang="en-US" dirty="0"/>
              <a:t> to detect wet floors</a:t>
            </a:r>
          </a:p>
          <a:p>
            <a:r>
              <a:rPr lang="en-US" b="1" dirty="0"/>
              <a:t>Liquid level sensor</a:t>
            </a:r>
            <a:r>
              <a:rPr lang="en-US" dirty="0"/>
              <a:t> to monitor soap levels</a:t>
            </a:r>
          </a:p>
          <a:p>
            <a:r>
              <a:rPr lang="en-US" dirty="0"/>
              <a:t>These sensors provide real-time environmental data from the washroom.</a:t>
            </a:r>
          </a:p>
          <a:p>
            <a:r>
              <a:rPr lang="en-US" dirty="0"/>
              <a:t>On the software side, we use:</a:t>
            </a:r>
          </a:p>
          <a:p>
            <a:r>
              <a:rPr lang="en-US" b="1" dirty="0"/>
              <a:t>MQTT protocol</a:t>
            </a:r>
            <a:r>
              <a:rPr lang="en-US" dirty="0"/>
              <a:t> for communication between devices and the cloud</a:t>
            </a:r>
          </a:p>
          <a:p>
            <a:r>
              <a:rPr lang="en-US" dirty="0"/>
              <a:t>A </a:t>
            </a:r>
            <a:r>
              <a:rPr lang="en-US" b="1" dirty="0"/>
              <a:t>cloud MQTT broker</a:t>
            </a:r>
            <a:r>
              <a:rPr lang="en-US" dirty="0"/>
              <a:t> to handle data transmission</a:t>
            </a:r>
          </a:p>
          <a:p>
            <a:r>
              <a:rPr lang="en-US" b="1" dirty="0"/>
              <a:t>Google Sheets or a cloud database</a:t>
            </a:r>
            <a:r>
              <a:rPr lang="en-US" dirty="0"/>
              <a:t> to store the collected data for monitoring and analysis.</a:t>
            </a:r>
          </a:p>
          <a:p>
            <a:r>
              <a:rPr lang="en-US" dirty="0"/>
              <a:t>This combination allows us to create a </a:t>
            </a:r>
            <a:r>
              <a:rPr lang="en-US" b="1" dirty="0"/>
              <a:t>real-time IoT monitoring system.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continuously monitors washroom conditions and generates alerts whenever hygiene issues occur.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If ammonia levels exceed the safe threshold, the system generates an alert indicating </a:t>
            </a:r>
            <a:r>
              <a:rPr lang="en-US" b="1" dirty="0"/>
              <a:t>bad odor</a:t>
            </a:r>
            <a:r>
              <a:rPr lang="en-US" dirty="0"/>
              <a:t>.</a:t>
            </a:r>
          </a:p>
          <a:p>
            <a:r>
              <a:rPr lang="en-US" dirty="0"/>
              <a:t>If the number of users increases rapidly, the system identifies </a:t>
            </a:r>
            <a:r>
              <a:rPr lang="en-US" b="1" dirty="0"/>
              <a:t>peak usage periods</a:t>
            </a:r>
            <a:r>
              <a:rPr lang="en-US" dirty="0"/>
              <a:t>, which helps schedule cleaning more efficiently.</a:t>
            </a:r>
          </a:p>
          <a:p>
            <a:r>
              <a:rPr lang="en-US" dirty="0"/>
              <a:t>If the floor becomes wet, the system generates an alert to prevent </a:t>
            </a:r>
            <a:r>
              <a:rPr lang="en-US" b="1" dirty="0"/>
              <a:t>safety hazards</a:t>
            </a:r>
            <a:r>
              <a:rPr lang="en-US" dirty="0"/>
              <a:t>.</a:t>
            </a:r>
          </a:p>
          <a:p>
            <a:r>
              <a:rPr lang="en-US" dirty="0"/>
              <a:t>If the soap level drops below a certain threshold, the system alerts staff to </a:t>
            </a:r>
            <a:r>
              <a:rPr lang="en-US" b="1" dirty="0"/>
              <a:t>refill the dispenser.</a:t>
            </a:r>
            <a:endParaRPr lang="en-US" dirty="0"/>
          </a:p>
          <a:p>
            <a:r>
              <a:rPr lang="en-US" dirty="0"/>
              <a:t>An example alert message generated by the system could be:</a:t>
            </a:r>
          </a:p>
          <a:p>
            <a:r>
              <a:rPr lang="en-US" dirty="0"/>
              <a:t>“Washroom 1 requires cleaning immediately.”</a:t>
            </a:r>
          </a:p>
          <a:p>
            <a:r>
              <a:rPr lang="en-US" dirty="0"/>
              <a:t>This allows maintenance staff to </a:t>
            </a:r>
            <a:r>
              <a:rPr lang="en-US" b="1" dirty="0"/>
              <a:t>respond quickly and maintain hygiene standards.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look at the </a:t>
            </a:r>
            <a:r>
              <a:rPr lang="en-US" b="1" dirty="0"/>
              <a:t>cost analysis and real-world impact</a:t>
            </a:r>
            <a:r>
              <a:rPr lang="en-US" dirty="0"/>
              <a:t> of our system.</a:t>
            </a:r>
          </a:p>
          <a:p>
            <a:r>
              <a:rPr lang="en-US" dirty="0"/>
              <a:t>First, we estimated the </a:t>
            </a:r>
            <a:r>
              <a:rPr lang="en-US" b="1" dirty="0"/>
              <a:t>prototype cost</a:t>
            </a:r>
            <a:r>
              <a:rPr lang="en-US" dirty="0"/>
              <a:t> of building this system.</a:t>
            </a:r>
            <a:br>
              <a:rPr lang="en-US" dirty="0"/>
            </a:br>
            <a:r>
              <a:rPr lang="en-US" dirty="0"/>
              <a:t>The main component is the </a:t>
            </a:r>
            <a:r>
              <a:rPr lang="en-US" b="1" dirty="0"/>
              <a:t>Raspberry Pi</a:t>
            </a:r>
            <a:r>
              <a:rPr lang="en-US" dirty="0"/>
              <a:t>, which costs around </a:t>
            </a:r>
            <a:r>
              <a:rPr lang="en-US" b="1" dirty="0"/>
              <a:t>₹4,500 to ₹8,000</a:t>
            </a:r>
            <a:r>
              <a:rPr lang="en-US" dirty="0"/>
              <a:t>.</a:t>
            </a:r>
          </a:p>
          <a:p>
            <a:r>
              <a:rPr lang="en-US" dirty="0"/>
              <a:t>The sensors are relatively inexpensive:</a:t>
            </a:r>
          </a:p>
          <a:p>
            <a:r>
              <a:rPr lang="en-US" dirty="0"/>
              <a:t>Gas sensor: around </a:t>
            </a:r>
            <a:r>
              <a:rPr lang="en-US" b="1" dirty="0"/>
              <a:t>₹100–₹300</a:t>
            </a:r>
            <a:endParaRPr lang="en-US" dirty="0"/>
          </a:p>
          <a:p>
            <a:r>
              <a:rPr lang="en-US" dirty="0"/>
              <a:t>IR sensor: around </a:t>
            </a:r>
            <a:r>
              <a:rPr lang="en-US" b="1" dirty="0"/>
              <a:t>₹100–₹150</a:t>
            </a:r>
            <a:endParaRPr lang="en-US" dirty="0"/>
          </a:p>
          <a:p>
            <a:r>
              <a:rPr lang="en-US" dirty="0"/>
              <a:t>Moisture sensor: around </a:t>
            </a:r>
            <a:r>
              <a:rPr lang="en-US" b="1" dirty="0"/>
              <a:t>₹120–₹200</a:t>
            </a:r>
            <a:endParaRPr lang="en-US" dirty="0"/>
          </a:p>
          <a:p>
            <a:r>
              <a:rPr lang="en-US" dirty="0"/>
              <a:t>Liquid level sensor: around </a:t>
            </a:r>
            <a:r>
              <a:rPr lang="en-US" b="1" dirty="0"/>
              <a:t>₹150–₹300</a:t>
            </a:r>
            <a:endParaRPr lang="en-US" dirty="0"/>
          </a:p>
          <a:p>
            <a:r>
              <a:rPr lang="en-US" dirty="0"/>
              <a:t>Including wiring, power supply, and other miscellaneous components, the </a:t>
            </a:r>
            <a:r>
              <a:rPr lang="en-US" b="1" dirty="0"/>
              <a:t>total prototype cost comes to approximately ₹5,500 to ₹9,000</a:t>
            </a:r>
            <a:r>
              <a:rPr lang="en-US" dirty="0"/>
              <a:t>.</a:t>
            </a:r>
          </a:p>
          <a:p>
            <a:r>
              <a:rPr lang="en-US" dirty="0"/>
              <a:t>Now looking at </a:t>
            </a:r>
            <a:r>
              <a:rPr lang="en-US" b="1" dirty="0"/>
              <a:t>real-world deployment</a:t>
            </a:r>
            <a:r>
              <a:rPr lang="en-US" dirty="0"/>
              <a:t>, installing this system in one washroom would cost roughly </a:t>
            </a:r>
            <a:r>
              <a:rPr lang="en-US" b="1" dirty="0"/>
              <a:t>₹8,000 to ₹10,000</a:t>
            </a:r>
            <a:r>
              <a:rPr lang="en-US" dirty="0"/>
              <a:t>, including waterproof casing, installation, </a:t>
            </a:r>
            <a:r>
              <a:rPr lang="en-US" dirty="0" err="1"/>
              <a:t>WiFi</a:t>
            </a:r>
            <a:r>
              <a:rPr lang="en-US" dirty="0"/>
              <a:t> setup, and maintenance.</a:t>
            </a:r>
          </a:p>
          <a:p>
            <a:r>
              <a:rPr lang="en-US" dirty="0"/>
              <a:t>For example, deploying this system across </a:t>
            </a:r>
            <a:r>
              <a:rPr lang="en-US" b="1" dirty="0"/>
              <a:t>100 washrooms would cost around ₹8–10 lakhs</a:t>
            </a:r>
            <a:r>
              <a:rPr lang="en-US" dirty="0"/>
              <a:t>, which is quite reasonable for large facilities like railway stations, malls, or universities.</a:t>
            </a:r>
          </a:p>
          <a:p>
            <a:r>
              <a:rPr lang="en-US" dirty="0"/>
              <a:t>More importantly, the </a:t>
            </a:r>
            <a:r>
              <a:rPr lang="en-US" b="1" dirty="0"/>
              <a:t>impact is significant</a:t>
            </a:r>
            <a:r>
              <a:rPr lang="en-US" dirty="0"/>
              <a:t>.</a:t>
            </a:r>
          </a:p>
          <a:p>
            <a:r>
              <a:rPr lang="en-US" dirty="0"/>
              <a:t>Without this system, maintenance response time can take </a:t>
            </a:r>
            <a:r>
              <a:rPr lang="en-US" b="1" dirty="0"/>
              <a:t>2 to 3 hours</a:t>
            </a:r>
            <a:r>
              <a:rPr lang="en-US" dirty="0"/>
              <a:t>, but with our system it can be reduced to </a:t>
            </a:r>
            <a:r>
              <a:rPr lang="en-US" b="1" dirty="0"/>
              <a:t>5 to 10 minutes</a:t>
            </a:r>
            <a:r>
              <a:rPr lang="en-US" dirty="0"/>
              <a:t>.</a:t>
            </a:r>
          </a:p>
          <a:p>
            <a:r>
              <a:rPr lang="en-US" dirty="0"/>
              <a:t>Soap availability improves, slip accidents due to wet floors are reduced, and overall maintenance costs become lower due to </a:t>
            </a:r>
            <a:r>
              <a:rPr lang="en-US" b="1" dirty="0"/>
              <a:t>automated monitoring</a:t>
            </a:r>
            <a:r>
              <a:rPr lang="en-US" dirty="0"/>
              <a:t>.</a:t>
            </a:r>
          </a:p>
          <a:p>
            <a:r>
              <a:rPr lang="en-US" dirty="0"/>
              <a:t>So overall, this system provides a </a:t>
            </a:r>
            <a:r>
              <a:rPr lang="en-US" b="1" dirty="0"/>
              <a:t>cost-effective and scalable solution for improving public hygiene infrastructure.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can be further improved in several ways.</a:t>
            </a:r>
          </a:p>
          <a:p>
            <a:r>
              <a:rPr lang="en-US" dirty="0"/>
              <a:t>One future enhancement is developing a </a:t>
            </a:r>
            <a:r>
              <a:rPr lang="en-US" b="1" dirty="0"/>
              <a:t>mobile application dashboard</a:t>
            </a:r>
            <a:r>
              <a:rPr lang="en-US" dirty="0"/>
              <a:t>, allowing sanitation workers to receive alerts directly on their smartphones.</a:t>
            </a:r>
          </a:p>
          <a:p>
            <a:r>
              <a:rPr lang="en-US" dirty="0"/>
              <a:t>We can also integrate a </a:t>
            </a:r>
            <a:r>
              <a:rPr lang="en-US" b="1" dirty="0"/>
              <a:t>QR code-based feedback system</a:t>
            </a:r>
            <a:r>
              <a:rPr lang="en-US" dirty="0"/>
              <a:t>, where users can rate washroom conditions.</a:t>
            </a:r>
          </a:p>
          <a:p>
            <a:r>
              <a:rPr lang="en-US" dirty="0"/>
              <a:t>Another improvement would be applying </a:t>
            </a:r>
            <a:r>
              <a:rPr lang="en-US" b="1" dirty="0"/>
              <a:t>machine learning algorithms</a:t>
            </a:r>
            <a:r>
              <a:rPr lang="en-US" dirty="0"/>
              <a:t> to analyze historical data and predict hygiene issues.</a:t>
            </a:r>
          </a:p>
          <a:p>
            <a:r>
              <a:rPr lang="en-US" dirty="0"/>
              <a:t>For example, AI could predict </a:t>
            </a:r>
            <a:r>
              <a:rPr lang="en-US" b="1" dirty="0"/>
              <a:t>peak usage hours</a:t>
            </a:r>
            <a:r>
              <a:rPr lang="en-US" dirty="0"/>
              <a:t> and automatically schedule cleaning before the washroom becomes unhygienic.</a:t>
            </a:r>
          </a:p>
          <a:p>
            <a:r>
              <a:rPr lang="en-US" dirty="0"/>
              <a:t>In the future, this system could also be integrated into </a:t>
            </a:r>
            <a:r>
              <a:rPr lang="en-US" b="1" dirty="0"/>
              <a:t>smart city infrastructure</a:t>
            </a:r>
            <a:r>
              <a:rPr lang="en-US" dirty="0"/>
              <a:t>, enabling centralized monitoring of sanitation facilities across an entire city.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</a:t>
            </a:r>
          </a:p>
          <a:p>
            <a:r>
              <a:rPr lang="en-US" dirty="0"/>
              <a:t>Our project demonstrates how </a:t>
            </a:r>
            <a:r>
              <a:rPr lang="en-US" b="1" dirty="0"/>
              <a:t>IoT technology can be used to improve public hygiene infrastructure.</a:t>
            </a:r>
            <a:endParaRPr lang="en-US" dirty="0"/>
          </a:p>
          <a:p>
            <a:r>
              <a:rPr lang="en-US" dirty="0"/>
              <a:t>By continuously monitoring washroom conditions and generating real-time alerts, the system helps ensure that sanitation issues are addressed immediately.</a:t>
            </a:r>
          </a:p>
          <a:p>
            <a:r>
              <a:rPr lang="en-US" dirty="0"/>
              <a:t>This not only improves </a:t>
            </a:r>
            <a:r>
              <a:rPr lang="en-US" b="1" dirty="0"/>
              <a:t>cleanliness and safety</a:t>
            </a:r>
            <a:r>
              <a:rPr lang="en-US" dirty="0"/>
              <a:t>, but also enhances the </a:t>
            </a:r>
            <a:r>
              <a:rPr lang="en-US" b="1" dirty="0"/>
              <a:t>overall user experience in public facilities.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1645920" cy="164592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011680"/>
            <a:ext cx="1097280" cy="109728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560320"/>
            <a:ext cx="822960" cy="82296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891540"/>
            <a:ext cx="822960" cy="8229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665771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91440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Smart Public Washroom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594360" y="169164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9A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Hygiene Monitor</a:t>
            </a:r>
            <a:endParaRPr lang="en-US" sz="3800" dirty="0"/>
          </a:p>
        </p:txBody>
      </p:sp>
      <p:sp>
        <p:nvSpPr>
          <p:cNvPr id="12" name="Text 8"/>
          <p:cNvSpPr/>
          <p:nvPr/>
        </p:nvSpPr>
        <p:spPr>
          <a:xfrm>
            <a:off x="594360" y="2606040"/>
            <a:ext cx="6217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IoT-Based Real-Time Monitoring &amp; Alerting System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94360" y="3246120"/>
            <a:ext cx="1234440" cy="320040"/>
          </a:xfrm>
          <a:prstGeom prst="rect">
            <a:avLst/>
          </a:prstGeom>
          <a:solidFill>
            <a:srgbClr val="008B76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32461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947672" y="3246120"/>
            <a:ext cx="1234440" cy="320040"/>
          </a:xfrm>
          <a:prstGeom prst="rect">
            <a:avLst/>
          </a:prstGeom>
          <a:solidFill>
            <a:srgbClr val="008B76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47672" y="32461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00984" y="3246120"/>
            <a:ext cx="1234440" cy="320040"/>
          </a:xfrm>
          <a:prstGeom prst="rect">
            <a:avLst/>
          </a:prstGeom>
          <a:solidFill>
            <a:srgbClr val="008B76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0984" y="32461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MQTT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53788" y="3246120"/>
            <a:ext cx="1234440" cy="320040"/>
          </a:xfrm>
          <a:prstGeom prst="rect">
            <a:avLst/>
          </a:prstGeom>
          <a:solidFill>
            <a:srgbClr val="008B76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53788" y="324612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3200400"/>
          </a:xfrm>
          <a:prstGeom prst="rect">
            <a:avLst/>
          </a:prstGeom>
          <a:solidFill>
            <a:srgbClr val="162435"/>
          </a:solidFill>
          <a:ln w="12700">
            <a:solidFill>
              <a:srgbClr val="4A68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1732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488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periodic checks leave washrooms unhygienic for long periods between inspections.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606040" cy="3200400"/>
          </a:xfrm>
          <a:prstGeom prst="rect">
            <a:avLst/>
          </a:prstGeom>
          <a:solidFill>
            <a:srgbClr val="162435"/>
          </a:solidFill>
          <a:ln w="12700">
            <a:solidFill>
              <a:srgbClr val="4A68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6060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41732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1488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Bad Odor Goes Undetected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278892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Ammonia buildup from waste creates unhealthy conditions before staff even notices.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188720"/>
            <a:ext cx="2606040" cy="3200400"/>
          </a:xfrm>
          <a:prstGeom prst="rect">
            <a:avLst/>
          </a:prstGeom>
          <a:solidFill>
            <a:srgbClr val="162435"/>
          </a:solidFill>
          <a:ln w="12700">
            <a:solidFill>
              <a:srgbClr val="4A68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188720"/>
            <a:ext cx="26060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41732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1488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Wet Floors &amp; Empty Soap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2788920"/>
            <a:ext cx="2331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Slip hazards and lack of soap go unaddressed, risking public safety and health.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48740" y="1525270"/>
            <a:ext cx="1508760" cy="2560320"/>
          </a:xfrm>
          <a:prstGeom prst="rect">
            <a:avLst/>
          </a:prstGeom>
          <a:solidFill>
            <a:srgbClr val="162435"/>
          </a:solidFill>
          <a:ln w="1905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1525270"/>
            <a:ext cx="1508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0028" y="1634998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0028" y="16349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9103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4460" y="260426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Sensors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94460" y="3034030"/>
            <a:ext cx="1417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 · IR · Moisture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Soap Level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75788" y="2805430"/>
            <a:ext cx="16459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40380" y="1525270"/>
            <a:ext cx="1508760" cy="2560320"/>
          </a:xfrm>
          <a:prstGeom prst="rect">
            <a:avLst/>
          </a:prstGeom>
          <a:solidFill>
            <a:srgbClr val="162435"/>
          </a:solidFill>
          <a:ln w="1905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40380" y="1525270"/>
            <a:ext cx="1508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1668" y="1634998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1668" y="16349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89103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86100" y="260426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Raspberry Pi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086100" y="3034030"/>
            <a:ext cx="1417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Processing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67428" y="2805430"/>
            <a:ext cx="16459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32020" y="1525270"/>
            <a:ext cx="1508760" cy="2560320"/>
          </a:xfrm>
          <a:prstGeom prst="rect">
            <a:avLst/>
          </a:prstGeom>
          <a:solidFill>
            <a:srgbClr val="162435"/>
          </a:solidFill>
          <a:ln w="1905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32020" y="1525270"/>
            <a:ext cx="1508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93308" y="1634998"/>
            <a:ext cx="256032" cy="25603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93308" y="16349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89103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77740" y="260426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MQTT Broker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777740" y="3034030"/>
            <a:ext cx="1417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Cloud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Protocol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259068" y="2805430"/>
            <a:ext cx="16459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84948" y="16349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304788" y="2805430"/>
            <a:ext cx="164592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469380" y="1525270"/>
            <a:ext cx="1508760" cy="2560320"/>
          </a:xfrm>
          <a:prstGeom prst="rect">
            <a:avLst/>
          </a:prstGeom>
          <a:solidFill>
            <a:srgbClr val="162435"/>
          </a:solidFill>
          <a:ln w="1905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6469380" y="1525270"/>
            <a:ext cx="15087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30668" y="1634998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30668" y="16349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891030"/>
            <a:ext cx="548640" cy="5486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515100" y="2604262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Alerts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6515100" y="3034030"/>
            <a:ext cx="1417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Sensors &amp; Hardware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47472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Ammonia Gas Sensor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7373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bad odors — triggers alert when NH₃ exceeds threshold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347472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546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IR Sensor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35661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users entering the washroom — tracks peak usage times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166360" y="1143000"/>
            <a:ext cx="347472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6459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325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Moisture Sensor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035040" y="17373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wet floors — prevents slip hazards immediately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166360" y="2971800"/>
            <a:ext cx="3474720" cy="1600200"/>
          </a:xfrm>
          <a:prstGeom prst="rect">
            <a:avLst/>
          </a:prstGeom>
          <a:solidFill>
            <a:srgbClr val="16243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47472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35040" y="31546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Liquid Level Sensor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035040" y="35661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Monitors soap dispenser — alerts when refill is needed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114800" y="1463040"/>
            <a:ext cx="960120" cy="2286000"/>
          </a:xfrm>
          <a:prstGeom prst="rect">
            <a:avLst/>
          </a:prstGeom>
          <a:solidFill>
            <a:srgbClr val="008B76">
              <a:alpha val="50000"/>
            </a:srgbClr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672" y="164592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96512" y="237744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977640" y="1943100"/>
            <a:ext cx="137160" cy="0"/>
          </a:xfrm>
          <a:prstGeom prst="line">
            <a:avLst/>
          </a:prstGeom>
          <a:noFill/>
          <a:ln w="12700">
            <a:solidFill>
              <a:srgbClr val="00C9A7">
                <a:alpha val="50000"/>
              </a:srgbClr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3977640" y="3771900"/>
            <a:ext cx="137160" cy="0"/>
          </a:xfrm>
          <a:prstGeom prst="line">
            <a:avLst/>
          </a:prstGeom>
          <a:noFill/>
          <a:ln w="12700">
            <a:solidFill>
              <a:srgbClr val="00C9A7">
                <a:alpha val="50000"/>
              </a:srgbClr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5074920" y="1943100"/>
            <a:ext cx="91440" cy="0"/>
          </a:xfrm>
          <a:prstGeom prst="line">
            <a:avLst/>
          </a:prstGeom>
          <a:noFill/>
          <a:ln w="12700">
            <a:solidFill>
              <a:srgbClr val="00C9A7">
                <a:alpha val="50000"/>
              </a:srgbClr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5074920" y="3771900"/>
            <a:ext cx="91440" cy="0"/>
          </a:xfrm>
          <a:prstGeom prst="line">
            <a:avLst/>
          </a:prstGeom>
          <a:noFill/>
          <a:ln w="12700">
            <a:solidFill>
              <a:srgbClr val="00C9A7">
                <a:alpha val="50000"/>
              </a:srgbClr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31920" cy="1645920"/>
          </a:xfrm>
          <a:prstGeom prst="rect">
            <a:avLst/>
          </a:prstGeom>
          <a:solidFill>
            <a:srgbClr val="162435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73152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61872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  Ammonia &gt; Threshold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25880" y="160020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⚠ Alert: Bad Odor Detected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01168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Staff dispatched immediately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261872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  User Count Spikes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77840" y="160020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📊 Peak Usage Recorded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77840" y="201168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Schedule proactive cleaning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3931920" cy="1645920"/>
          </a:xfrm>
          <a:prstGeom prst="rect">
            <a:avLst/>
          </a:prstGeom>
          <a:solidFill>
            <a:srgbClr val="162435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73152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661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27832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  Moisture Detected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25880" y="356616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⚠ Alert: Wet Floor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325880" y="39776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Safety team notified at once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063240"/>
            <a:ext cx="3931920" cy="1645920"/>
          </a:xfrm>
          <a:prstGeom prst="rect">
            <a:avLst/>
          </a:prstGeom>
          <a:solidFill>
            <a:srgbClr val="16243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63240"/>
            <a:ext cx="73152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661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227832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  Soap Level Low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77840" y="3566160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🔔 Alert: Refill Needed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77840" y="39776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Refill team alerted via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Cost Analysis &amp; Real-World Impact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3931920" cy="187452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64008" cy="1874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05156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🔧  Prototype Cost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" y="1435608"/>
            <a:ext cx="3803904" cy="201168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45389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 4GB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26080" y="145389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₹4,500 – ₹8,000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165506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MQ135 Gas Sensor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0" y="1655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₹100 – ₹300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" y="1837944"/>
            <a:ext cx="3803904" cy="201168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185623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 People Counter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926080" y="185623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₹100 – ₹150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368" y="2057400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Moisture Sensor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926080" y="205740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₹120 – ₹200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21208" y="2240280"/>
            <a:ext cx="3803904" cy="201168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2258568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Liquid Level Sensor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926080" y="225856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₹150 – ₹300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58368" y="245973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Wires, PSU, Misc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926080" y="245973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₹800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1208" y="2670048"/>
            <a:ext cx="3803904" cy="164592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67919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PROTOTYPE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697480" y="2679192"/>
            <a:ext cx="16002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₹5,500 – ₹9,000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2944368"/>
            <a:ext cx="3931920" cy="1719072"/>
          </a:xfrm>
          <a:prstGeom prst="rect">
            <a:avLst/>
          </a:prstGeom>
          <a:solidFill>
            <a:srgbClr val="162435"/>
          </a:solidFill>
          <a:ln w="127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2944368"/>
            <a:ext cx="64008" cy="17190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298094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🏗️  Real Deployment (Per Washroom)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21208" y="3319272"/>
            <a:ext cx="3803904" cy="192024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3337560"/>
            <a:ext cx="22860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 + Sensors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926080" y="3337560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₹6,000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58368" y="3529584"/>
            <a:ext cx="22860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Waterproof Casing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926080" y="3529584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₹800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21208" y="3703320"/>
            <a:ext cx="3803904" cy="192024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3721608"/>
            <a:ext cx="22860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Wiring &amp; Installation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926080" y="372160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₹1,000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58368" y="3913632"/>
            <a:ext cx="22860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WiFi Setup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926080" y="3913632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₹500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21208" y="4087368"/>
            <a:ext cx="3803904" cy="192024"/>
          </a:xfrm>
          <a:prstGeom prst="rect">
            <a:avLst/>
          </a:prstGeom>
          <a:solidFill>
            <a:srgbClr val="1B2B3E">
              <a:alpha val="6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368" y="4105656"/>
            <a:ext cx="22860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Maintenance (annual)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2926080" y="410565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₹1,000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21208" y="4462272"/>
            <a:ext cx="3803904" cy="201168"/>
          </a:xfrm>
          <a:prstGeom prst="rect">
            <a:avLst/>
          </a:prstGeom>
          <a:solidFill>
            <a:srgbClr val="FF6B35">
              <a:alpha val="22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8368" y="4471416"/>
            <a:ext cx="356616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washrooms  →  ₹8–10 Lakhs total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617720" y="1005840"/>
            <a:ext cx="4206240" cy="214884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617720" y="1005840"/>
            <a:ext cx="64008" cy="2148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0600" y="10332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FFD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Component Cost Breakdown (₹ midpoint)</a:t>
            </a:r>
            <a:endParaRPr lang="en-US" sz="1000" dirty="0"/>
          </a:p>
        </p:txBody>
      </p:sp>
      <p:graphicFrame>
        <p:nvGraphicFramePr>
          <p:cNvPr id="48" name="Chart 0"/>
          <p:cNvGraphicFramePr/>
          <p:nvPr/>
        </p:nvGraphicFramePr>
        <p:xfrm>
          <a:off x="4709160" y="1325880"/>
          <a:ext cx="402336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Shape 45"/>
          <p:cNvSpPr/>
          <p:nvPr/>
        </p:nvSpPr>
        <p:spPr>
          <a:xfrm>
            <a:off x="4617720" y="3246120"/>
            <a:ext cx="4206240" cy="164592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4617720" y="3246120"/>
            <a:ext cx="64008" cy="1645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800600" y="32918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📈  Expected Impact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4800600" y="363931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68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6172200" y="363931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System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7406640" y="363931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System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4681728" y="3822192"/>
            <a:ext cx="4078224" cy="237744"/>
          </a:xfrm>
          <a:prstGeom prst="rect">
            <a:avLst/>
          </a:prstGeom>
          <a:solidFill>
            <a:srgbClr val="1B2B3E">
              <a:alpha val="5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800600" y="38404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  Response Time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6172200" y="384048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2–3 hrs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7406640" y="384048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5–10 min</a:t>
            </a:r>
            <a:endParaRPr lang="en-US" sz="850" dirty="0"/>
          </a:p>
        </p:txBody>
      </p:sp>
      <p:sp>
        <p:nvSpPr>
          <p:cNvPr id="59" name="Text 55"/>
          <p:cNvSpPr/>
          <p:nvPr/>
        </p:nvSpPr>
        <p:spPr>
          <a:xfrm>
            <a:off x="4800600" y="40873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🧴  Soap Availability</a:t>
            </a:r>
            <a:endParaRPr lang="en-US" sz="850" dirty="0"/>
          </a:p>
        </p:txBody>
      </p:sp>
      <p:sp>
        <p:nvSpPr>
          <p:cNvPr id="60" name="Text 56"/>
          <p:cNvSpPr/>
          <p:nvPr/>
        </p:nvSpPr>
        <p:spPr>
          <a:xfrm>
            <a:off x="6172200" y="40873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Often empty</a:t>
            </a:r>
            <a:endParaRPr lang="en-US" sz="850" dirty="0"/>
          </a:p>
        </p:txBody>
      </p:sp>
      <p:sp>
        <p:nvSpPr>
          <p:cNvPr id="61" name="Text 57"/>
          <p:cNvSpPr/>
          <p:nvPr/>
        </p:nvSpPr>
        <p:spPr>
          <a:xfrm>
            <a:off x="7406640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+50% better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4681728" y="4315968"/>
            <a:ext cx="4078224" cy="237744"/>
          </a:xfrm>
          <a:prstGeom prst="rect">
            <a:avLst/>
          </a:prstGeom>
          <a:solidFill>
            <a:srgbClr val="1B2B3E">
              <a:alpha val="50000"/>
            </a:srgbClr>
          </a:solidFill>
          <a:ln w="12700">
            <a:solidFill>
              <a:srgbClr val="1B2B3E">
                <a:alpha val="20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800600" y="433425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🚧  Slip Accidents</a:t>
            </a:r>
            <a:endParaRPr lang="en-US" sz="850" dirty="0"/>
          </a:p>
        </p:txBody>
      </p:sp>
      <p:sp>
        <p:nvSpPr>
          <p:cNvPr id="64" name="Text 60"/>
          <p:cNvSpPr/>
          <p:nvPr/>
        </p:nvSpPr>
        <p:spPr>
          <a:xfrm>
            <a:off x="6172200" y="433425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</a:t>
            </a:r>
            <a:endParaRPr lang="en-US" sz="850" dirty="0"/>
          </a:p>
        </p:txBody>
      </p:sp>
      <p:sp>
        <p:nvSpPr>
          <p:cNvPr id="65" name="Text 61"/>
          <p:cNvSpPr/>
          <p:nvPr/>
        </p:nvSpPr>
        <p:spPr>
          <a:xfrm>
            <a:off x="7406640" y="433425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4800600" y="458114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 Maintenance Cost</a:t>
            </a:r>
            <a:endParaRPr lang="en-US" sz="850" dirty="0"/>
          </a:p>
        </p:txBody>
      </p:sp>
      <p:sp>
        <p:nvSpPr>
          <p:cNvPr id="67" name="Text 63"/>
          <p:cNvSpPr/>
          <p:nvPr/>
        </p:nvSpPr>
        <p:spPr>
          <a:xfrm>
            <a:off x="6172200" y="458114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(manual)</a:t>
            </a:r>
            <a:endParaRPr lang="en-US" sz="850" dirty="0"/>
          </a:p>
        </p:txBody>
      </p:sp>
      <p:sp>
        <p:nvSpPr>
          <p:cNvPr id="68" name="Text 64"/>
          <p:cNvSpPr/>
          <p:nvPr/>
        </p:nvSpPr>
        <p:spPr>
          <a:xfrm>
            <a:off x="7406640" y="4581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(automated)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57200" y="4901184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"₹8,000–₹10,000 per washroom · Up to 70% faster maintenance response · Scalable to smart city infrastructure"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31920" cy="1691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95928" y="1207008"/>
            <a:ext cx="310896" cy="310896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5928" y="12070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20700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Mobile Dashboard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6459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Sanitation staff receive real-time alerts and monitor conditions on their phones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91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97280"/>
            <a:ext cx="64008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47888" y="1207008"/>
            <a:ext cx="310896" cy="310896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7888" y="12070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6002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20700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AI-Powered Prediction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16459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models predict peak usage and auto-schedule cleaning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2920" y="3063240"/>
            <a:ext cx="3931920" cy="1691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3063240"/>
            <a:ext cx="64008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995928" y="3172968"/>
            <a:ext cx="310896" cy="310896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95928" y="3172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5661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317296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QR Feedback System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280160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scan QR codes to rate cleanliness — combines data with ratings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063240"/>
            <a:ext cx="3931920" cy="1691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08B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63240"/>
            <a:ext cx="64008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247888" y="3172968"/>
            <a:ext cx="310896" cy="310896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247888" y="3172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56616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32120" y="317296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Smart City Integration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532120" y="36118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to centralized city infrastructure for facility management at scale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1970" y="68580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254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B3E"/>
          </a:solidFill>
          <a:ln w="12700">
            <a:solidFill>
              <a:srgbClr val="1B2B3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1031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94360" y="40462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C9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Public Washroom Hygiene Monitor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566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14755" y="4617720"/>
            <a:ext cx="1325880" cy="274320"/>
          </a:xfrm>
          <a:prstGeom prst="rect">
            <a:avLst/>
          </a:prstGeom>
          <a:solidFill>
            <a:srgbClr val="008B76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4755" y="46177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Raspberry 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38170" y="4617720"/>
            <a:ext cx="1325880" cy="274320"/>
          </a:xfrm>
          <a:prstGeom prst="rect">
            <a:avLst/>
          </a:prstGeom>
          <a:solidFill>
            <a:srgbClr val="008B76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38170" y="46177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MQTT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120640" y="4617720"/>
            <a:ext cx="1325880" cy="274320"/>
          </a:xfrm>
          <a:prstGeom prst="rect">
            <a:avLst/>
          </a:prstGeom>
          <a:solidFill>
            <a:srgbClr val="008B76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20640" y="46177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9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Sensors</a:t>
            </a:r>
          </a:p>
        </p:txBody>
      </p:sp>
      <p:sp>
        <p:nvSpPr>
          <p:cNvPr id="17" name="Shape 14"/>
          <p:cNvSpPr/>
          <p:nvPr/>
        </p:nvSpPr>
        <p:spPr>
          <a:xfrm>
            <a:off x="6951345" y="4617720"/>
            <a:ext cx="1325880" cy="274320"/>
          </a:xfrm>
          <a:prstGeom prst="rect">
            <a:avLst/>
          </a:prstGeom>
          <a:solidFill>
            <a:srgbClr val="008B76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51345" y="461772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F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Sheets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1471</Words>
  <Application>Microsoft Office PowerPoint</Application>
  <PresentationFormat>On-screen Show (16:9)</PresentationFormat>
  <Paragraphs>204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Public Washroom Hygiene Monitor</dc:title>
  <dc:subject>PptxGenJS Presentation</dc:subject>
  <dc:creator>PptxGenJS</dc:creator>
  <cp:lastModifiedBy>Meenakshi S</cp:lastModifiedBy>
  <cp:revision>7</cp:revision>
  <dcterms:created xsi:type="dcterms:W3CDTF">2026-03-13T12:01:00Z</dcterms:created>
  <dcterms:modified xsi:type="dcterms:W3CDTF">2026-03-14T07:02:48Z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EB098CF3391C49B89D2BF9E63625C6BB_12</vt:lpwstr>
  </property>
  <property fmtid="{D5CDD505-2E9C-101B-9397-08002B2CF9AE}" pid="3" name="KSOProductBuildVer">
    <vt:lpwstr>1033-12.2.0.23196</vt:lpwstr>
  </property>
</Properties>
</file>